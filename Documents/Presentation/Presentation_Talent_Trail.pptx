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y="5143500" cx="9144000"/>
  <p:notesSz cx="6858000" cy="9144000"/>
  <p:embeddedFontLst>
    <p:embeddedFont>
      <p:font typeface="Roboto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ABE55A6-D7D4-46D3-AD02-78F81873643E}">
  <a:tblStyle styleId="{9ABE55A6-D7D4-46D3-AD02-78F81873643E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8112AFAD-1407-4FCA-997B-653156A51999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Roboto-regular.fntdata"/><Relationship Id="rId25" Type="http://schemas.openxmlformats.org/officeDocument/2006/relationships/slide" Target="slides/slide19.xml"/><Relationship Id="rId28" Type="http://schemas.openxmlformats.org/officeDocument/2006/relationships/font" Target="fonts/Roboto-italic.fntdata"/><Relationship Id="rId27" Type="http://schemas.openxmlformats.org/officeDocument/2006/relationships/font" Target="fonts/Roboto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Roboto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de0d8c9ee5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de0d8c9ee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de0d8c9ee5_0_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de0d8c9ee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de0d8c9ee5_0_1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de0d8c9ee5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de0d8c9ee5_0_1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de0d8c9ee5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de0d8c9ee5_0_2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de0d8c9ee5_0_2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de0d8c9ee5_0_2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de0d8c9ee5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de0d8c9ee5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g3de0d8c9ee5_0_3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de1131da3c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de1131da3c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Tools used aligned with class structure and material, difficult to choose early on due to lack of domain knowledge.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d5e35251a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d5e35251a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Tools used aligned with class structure and material, difficult to choose early on due to lack of domain knowledge.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de0d8c9ee5_0_2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de0d8c9ee5_0_2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de0d8c9ee5_0_2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de0d8c9ee5_0_2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de0d8c9ee5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Weighted gap just means that the importance is ranked using the ONET importance. If the skill is a 5, the gap is multiplied by 1, if the importance is a 4, the gap is multiplied by .8, etc.</a:t>
            </a:r>
            <a:endParaRPr/>
          </a:p>
        </p:txBody>
      </p:sp>
      <p:sp>
        <p:nvSpPr>
          <p:cNvPr id="180" name="Google Shape;180;g3de0d8c9ee5_0_5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de0d8c9ee5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g3de0d8c9ee5_0_6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de0d8c9ee5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g3de0d8c9ee5_0_6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de0d8c9ee5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g3de0d8c9ee5_0_7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de0d8c9ee5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g3de0d8c9ee5_0_7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de0d8c9ee5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g3de0d8c9ee5_0_8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de0d8c9ee5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g3de0d8c9ee5_0_9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e0d8c9ee5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g3de0d8c9ee5_0_9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3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84" name="Google Shape;84;p13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3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3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.xml"/><Relationship Id="rId3" Type="http://schemas.openxmlformats.org/officeDocument/2006/relationships/hyperlink" Target="http://drive.google.com/file/d/1WE2Smd3j-kiLPdorW5b4QrEOJeYeEoC-/view" TargetMode="External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ctrTitle"/>
          </p:nvPr>
        </p:nvSpPr>
        <p:spPr>
          <a:xfrm>
            <a:off x="311708" y="1490869"/>
            <a:ext cx="8520600" cy="153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6500"/>
              <a:t>Talent Trail</a:t>
            </a:r>
            <a:endParaRPr sz="6500"/>
          </a:p>
        </p:txBody>
      </p:sp>
      <p:sp>
        <p:nvSpPr>
          <p:cNvPr id="92" name="Google Shape;92;p14"/>
          <p:cNvSpPr txBox="1"/>
          <p:nvPr>
            <p:ph idx="1" type="subTitle"/>
          </p:nvPr>
        </p:nvSpPr>
        <p:spPr>
          <a:xfrm>
            <a:off x="311700" y="3058031"/>
            <a:ext cx="8520600" cy="59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n" sz="3380">
                <a:latin typeface="Calibri"/>
                <a:ea typeface="Calibri"/>
                <a:cs typeface="Calibri"/>
                <a:sym typeface="Calibri"/>
              </a:rPr>
              <a:t>Final Team Presentation</a:t>
            </a:r>
            <a:endParaRPr sz="177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/>
          <p:nvPr>
            <p:ph type="title"/>
          </p:nvPr>
        </p:nvSpPr>
        <p:spPr>
          <a:xfrm>
            <a:off x="236925" y="957908"/>
            <a:ext cx="4045200" cy="184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A Career Gap Analysis Tool</a:t>
            </a:r>
            <a:endParaRPr sz="4800"/>
          </a:p>
        </p:txBody>
      </p:sp>
      <p:sp>
        <p:nvSpPr>
          <p:cNvPr id="98" name="Google Shape;98;p15"/>
          <p:cNvSpPr txBox="1"/>
          <p:nvPr>
            <p:ph idx="1" type="subTitle"/>
          </p:nvPr>
        </p:nvSpPr>
        <p:spPr>
          <a:xfrm>
            <a:off x="294075" y="2935345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888888"/>
                </a:solidFill>
              </a:rPr>
              <a:t>Course: </a:t>
            </a:r>
            <a:endParaRPr sz="2000">
              <a:solidFill>
                <a:srgbClr val="888888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888888"/>
                </a:solidFill>
              </a:rPr>
              <a:t>Software Development Tools &amp; Methods</a:t>
            </a:r>
            <a:endParaRPr sz="2000">
              <a:solidFill>
                <a:srgbClr val="888888"/>
              </a:solidFill>
            </a:endParaRPr>
          </a:p>
        </p:txBody>
      </p:sp>
      <p:sp>
        <p:nvSpPr>
          <p:cNvPr id="99" name="Google Shape;99;p15"/>
          <p:cNvSpPr txBox="1"/>
          <p:nvPr>
            <p:ph idx="2" type="body"/>
          </p:nvPr>
        </p:nvSpPr>
        <p:spPr>
          <a:xfrm>
            <a:off x="4960500" y="511988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Mark Olmscheid</a:t>
            </a:r>
            <a:endParaRPr sz="2200"/>
          </a:p>
          <a:p>
            <a:pPr indent="-368300" lvl="0" marL="457200" rtl="0" algn="l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Kassidy Flick</a:t>
            </a:r>
            <a:endParaRPr sz="2200"/>
          </a:p>
          <a:p>
            <a:pPr indent="-368300" lvl="0" marL="457200" rtl="0" algn="l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Lisa Wilder</a:t>
            </a:r>
            <a:endParaRPr sz="2200"/>
          </a:p>
          <a:p>
            <a:pPr indent="-368300" lvl="0" marL="457200" rtl="0" algn="l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Sarah Suliman</a:t>
            </a:r>
            <a:endParaRPr sz="1400"/>
          </a:p>
        </p:txBody>
      </p:sp>
      <p:sp>
        <p:nvSpPr>
          <p:cNvPr id="100" name="Google Shape;100;p15"/>
          <p:cNvSpPr txBox="1"/>
          <p:nvPr>
            <p:ph idx="2" type="body"/>
          </p:nvPr>
        </p:nvSpPr>
        <p:spPr>
          <a:xfrm>
            <a:off x="0" y="0"/>
            <a:ext cx="14286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592"/>
              </a:spcBef>
              <a:spcAft>
                <a:spcPts val="1200"/>
              </a:spcAft>
              <a:buSzPts val="440"/>
              <a:buNone/>
            </a:pPr>
            <a:r>
              <a:rPr i="1" lang="en" sz="1280">
                <a:solidFill>
                  <a:schemeClr val="accent6"/>
                </a:solidFill>
              </a:rPr>
              <a:t>Sarah Suliman</a:t>
            </a:r>
            <a:r>
              <a:rPr i="1" lang="en" sz="1120">
                <a:solidFill>
                  <a:schemeClr val="accent6"/>
                </a:solidFill>
              </a:rPr>
              <a:t>:</a:t>
            </a:r>
            <a:endParaRPr i="1" sz="1120"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/>
          <p:nvPr>
            <p:ph type="title"/>
          </p:nvPr>
        </p:nvSpPr>
        <p:spPr>
          <a:xfrm>
            <a:off x="311700" y="88013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Calibri"/>
              <a:buNone/>
            </a:pPr>
            <a:r>
              <a:rPr lang="en" sz="4460">
                <a:latin typeface="Calibri"/>
                <a:ea typeface="Calibri"/>
                <a:cs typeface="Calibri"/>
                <a:sym typeface="Calibri"/>
              </a:rPr>
              <a:t>Problem Motivation</a:t>
            </a:r>
            <a:endParaRPr sz="3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00"/>
          </a:p>
        </p:txBody>
      </p:sp>
      <p:sp>
        <p:nvSpPr>
          <p:cNvPr id="106" name="Google Shape;106;p16"/>
          <p:cNvSpPr txBox="1"/>
          <p:nvPr>
            <p:ph idx="1" type="body"/>
          </p:nvPr>
        </p:nvSpPr>
        <p:spPr>
          <a:xfrm>
            <a:off x="311700" y="969944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258790" lvl="0" marL="3429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028">
                <a:solidFill>
                  <a:schemeClr val="dk1"/>
                </a:solidFill>
              </a:rPr>
              <a:t>Many people struggle to accurately evaluate their skills and readiness for a desired career</a:t>
            </a:r>
            <a:endParaRPr sz="2028">
              <a:solidFill>
                <a:schemeClr val="dk1"/>
              </a:solidFill>
            </a:endParaRPr>
          </a:p>
          <a:p>
            <a:pPr indent="-274681" lvl="1" marL="74295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758">
                <a:solidFill>
                  <a:schemeClr val="dk1"/>
                </a:solidFill>
              </a:rPr>
              <a:t>Determining the steps needed to reach a dream job can feel overwhelming</a:t>
            </a:r>
            <a:endParaRPr sz="1758">
              <a:solidFill>
                <a:schemeClr val="dk1"/>
              </a:solidFill>
            </a:endParaRPr>
          </a:p>
          <a:p>
            <a:pPr indent="-274681" lvl="1" marL="74295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758">
                <a:solidFill>
                  <a:schemeClr val="dk1"/>
                </a:solidFill>
              </a:rPr>
              <a:t>Online information is often inconsistent and difficult to navigate</a:t>
            </a:r>
            <a:endParaRPr sz="1758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50185"/>
              <a:buNone/>
            </a:pPr>
            <a:r>
              <a:t/>
            </a:r>
            <a:endParaRPr sz="2028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50185"/>
              <a:buNone/>
            </a:pPr>
            <a:r>
              <a:t/>
            </a:r>
            <a:endParaRPr sz="2028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40257"/>
              <a:buNone/>
            </a:pPr>
            <a:r>
              <a:rPr lang="en" sz="2528" u="sng">
                <a:solidFill>
                  <a:schemeClr val="dk1"/>
                </a:solidFill>
              </a:rPr>
              <a:t>Goal: </a:t>
            </a:r>
            <a:endParaRPr sz="2528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40000"/>
              </a:lnSpc>
              <a:spcBef>
                <a:spcPts val="1000"/>
              </a:spcBef>
              <a:spcAft>
                <a:spcPts val="1200"/>
              </a:spcAft>
              <a:buSzPct val="50185"/>
              <a:buNone/>
            </a:pPr>
            <a:r>
              <a:rPr lang="en" sz="2028">
                <a:solidFill>
                  <a:schemeClr val="dk1"/>
                </a:solidFill>
              </a:rPr>
              <a:t>Leverage real-world data from O*NET to compare a user’s current skills with career requirements and generate a clear report identifying skill gaps and actionable steps toward potential careers.</a:t>
            </a:r>
            <a:endParaRPr sz="2028">
              <a:solidFill>
                <a:schemeClr val="dk1"/>
              </a:solidFill>
            </a:endParaRPr>
          </a:p>
        </p:txBody>
      </p:sp>
      <p:sp>
        <p:nvSpPr>
          <p:cNvPr id="107" name="Google Shape;107;p16"/>
          <p:cNvSpPr txBox="1"/>
          <p:nvPr>
            <p:ph idx="1" type="body"/>
          </p:nvPr>
        </p:nvSpPr>
        <p:spPr>
          <a:xfrm>
            <a:off x="0" y="0"/>
            <a:ext cx="14286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592"/>
              </a:spcBef>
              <a:spcAft>
                <a:spcPts val="1200"/>
              </a:spcAft>
              <a:buSzPts val="440"/>
              <a:buNone/>
            </a:pPr>
            <a:r>
              <a:rPr i="1" lang="en" sz="1280">
                <a:solidFill>
                  <a:schemeClr val="accent6"/>
                </a:solidFill>
              </a:rPr>
              <a:t>Lisa Wilder</a:t>
            </a:r>
            <a:r>
              <a:rPr i="1" lang="en" sz="1120">
                <a:solidFill>
                  <a:schemeClr val="accent6"/>
                </a:solidFill>
              </a:rPr>
              <a:t>:</a:t>
            </a:r>
            <a:endParaRPr i="1" sz="1120"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7"/>
          <p:cNvSpPr txBox="1"/>
          <p:nvPr>
            <p:ph idx="1" type="body"/>
          </p:nvPr>
        </p:nvSpPr>
        <p:spPr>
          <a:xfrm>
            <a:off x="33150" y="475725"/>
            <a:ext cx="4456500" cy="432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89548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85"/>
              <a:buChar char="●"/>
            </a:pPr>
            <a:r>
              <a:rPr lang="en" sz="2085">
                <a:solidFill>
                  <a:schemeClr val="dk1"/>
                </a:solidFill>
              </a:rPr>
              <a:t>Talent Trail enables users to:</a:t>
            </a:r>
            <a:endParaRPr sz="2085">
              <a:solidFill>
                <a:schemeClr val="dk1"/>
              </a:solidFill>
            </a:endParaRPr>
          </a:p>
          <a:p>
            <a:pPr indent="-167958" lvl="1" marL="457200" rtl="0" algn="l">
              <a:lnSpc>
                <a:spcPct val="15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ts val="1745"/>
              <a:buChar char="○"/>
            </a:pPr>
            <a:r>
              <a:rPr lang="en" sz="1745">
                <a:solidFill>
                  <a:schemeClr val="dk1"/>
                </a:solidFill>
              </a:rPr>
              <a:t>Select a desired career</a:t>
            </a:r>
            <a:endParaRPr sz="1745">
              <a:solidFill>
                <a:schemeClr val="dk1"/>
              </a:solidFill>
            </a:endParaRPr>
          </a:p>
          <a:p>
            <a:pPr indent="-167958" lvl="1" marL="457200" rtl="0" algn="l">
              <a:lnSpc>
                <a:spcPct val="15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ts val="1745"/>
              <a:buChar char="○"/>
            </a:pPr>
            <a:r>
              <a:rPr lang="en" sz="1745">
                <a:solidFill>
                  <a:schemeClr val="dk1"/>
                </a:solidFill>
              </a:rPr>
              <a:t>Self-assess their skills relevant to that career</a:t>
            </a:r>
            <a:endParaRPr sz="1745">
              <a:solidFill>
                <a:schemeClr val="dk1"/>
              </a:solidFill>
            </a:endParaRPr>
          </a:p>
          <a:p>
            <a:pPr indent="-167958" lvl="1" marL="457200" rtl="0" algn="l">
              <a:lnSpc>
                <a:spcPct val="15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ts val="1745"/>
              <a:buChar char="○"/>
            </a:pPr>
            <a:r>
              <a:rPr lang="en" sz="1745">
                <a:solidFill>
                  <a:schemeClr val="dk1"/>
                </a:solidFill>
              </a:rPr>
              <a:t>Receive</a:t>
            </a:r>
            <a:r>
              <a:rPr lang="en" sz="1745">
                <a:solidFill>
                  <a:schemeClr val="dk1"/>
                </a:solidFill>
              </a:rPr>
              <a:t> a match percentage</a:t>
            </a:r>
            <a:endParaRPr sz="1745">
              <a:solidFill>
                <a:schemeClr val="dk1"/>
              </a:solidFill>
            </a:endParaRPr>
          </a:p>
          <a:p>
            <a:pPr indent="-167958" lvl="1" marL="457200" rtl="0" algn="l">
              <a:lnSpc>
                <a:spcPct val="15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ts val="1745"/>
              <a:buChar char="○"/>
            </a:pPr>
            <a:r>
              <a:rPr lang="en" sz="1745">
                <a:solidFill>
                  <a:schemeClr val="dk1"/>
                </a:solidFill>
              </a:rPr>
              <a:t>Compare their current skills to O*NET skill expectations</a:t>
            </a:r>
            <a:endParaRPr sz="1745">
              <a:solidFill>
                <a:schemeClr val="dk1"/>
              </a:solidFill>
            </a:endParaRPr>
          </a:p>
          <a:p>
            <a:pPr indent="-167958" lvl="1" marL="457200" rtl="0" algn="l">
              <a:lnSpc>
                <a:spcPct val="15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ts val="1745"/>
              <a:buChar char="○"/>
            </a:pPr>
            <a:r>
              <a:rPr lang="en" sz="1745">
                <a:solidFill>
                  <a:schemeClr val="dk1"/>
                </a:solidFill>
              </a:rPr>
              <a:t>Generate a report highlighting skill gaps and areas for improvement</a:t>
            </a:r>
            <a:endParaRPr sz="1575">
              <a:solidFill>
                <a:schemeClr val="dk1"/>
              </a:solidFill>
            </a:endParaRPr>
          </a:p>
        </p:txBody>
      </p:sp>
      <p:pic>
        <p:nvPicPr>
          <p:cNvPr id="113" name="Google Shape;113;p17" title="Screenshot 2026-04-08 11115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89650" y="480199"/>
            <a:ext cx="4456501" cy="4325277"/>
          </a:xfrm>
          <a:prstGeom prst="rect">
            <a:avLst/>
          </a:prstGeom>
          <a:noFill/>
          <a:ln cap="flat" cmpd="sng" w="28575">
            <a:solidFill>
              <a:srgbClr val="D9E3EC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4" name="Google Shape;114;p17"/>
          <p:cNvSpPr txBox="1"/>
          <p:nvPr>
            <p:ph idx="1" type="body"/>
          </p:nvPr>
        </p:nvSpPr>
        <p:spPr>
          <a:xfrm>
            <a:off x="0" y="0"/>
            <a:ext cx="14286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592"/>
              </a:spcBef>
              <a:spcAft>
                <a:spcPts val="1200"/>
              </a:spcAft>
              <a:buSzPts val="440"/>
              <a:buNone/>
            </a:pPr>
            <a:r>
              <a:rPr i="1" lang="en" sz="1280">
                <a:solidFill>
                  <a:schemeClr val="accent6"/>
                </a:solidFill>
              </a:rPr>
              <a:t>Sarah Suliman</a:t>
            </a:r>
            <a:r>
              <a:rPr i="1" lang="en" sz="1120">
                <a:solidFill>
                  <a:schemeClr val="accent6"/>
                </a:solidFill>
              </a:rPr>
              <a:t>:</a:t>
            </a:r>
            <a:endParaRPr i="1" sz="1120"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8"/>
          <p:cNvSpPr txBox="1"/>
          <p:nvPr>
            <p:ph type="title"/>
          </p:nvPr>
        </p:nvSpPr>
        <p:spPr>
          <a:xfrm>
            <a:off x="311700" y="286038"/>
            <a:ext cx="8520600" cy="60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4762"/>
              <a:buFont typeface="Calibri"/>
              <a:buNone/>
            </a:pPr>
            <a:r>
              <a:rPr lang="en" sz="4200">
                <a:latin typeface="Calibri"/>
                <a:ea typeface="Calibri"/>
                <a:cs typeface="Calibri"/>
                <a:sym typeface="Calibri"/>
              </a:rPr>
              <a:t>Demo Flow Overview</a:t>
            </a:r>
            <a:endParaRPr/>
          </a:p>
        </p:txBody>
      </p:sp>
      <p:sp>
        <p:nvSpPr>
          <p:cNvPr id="120" name="Google Shape;120;p18"/>
          <p:cNvSpPr txBox="1"/>
          <p:nvPr>
            <p:ph idx="1" type="body"/>
          </p:nvPr>
        </p:nvSpPr>
        <p:spPr>
          <a:xfrm>
            <a:off x="155850" y="1076550"/>
            <a:ext cx="4260300" cy="378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-344019" lvl="0" marL="457200" rtl="0" algn="l">
              <a:lnSpc>
                <a:spcPct val="135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en" sz="1965">
                <a:solidFill>
                  <a:schemeClr val="dk1"/>
                </a:solidFill>
              </a:rPr>
              <a:t>User lands on the homepage</a:t>
            </a:r>
            <a:endParaRPr sz="1965">
              <a:solidFill>
                <a:schemeClr val="dk1"/>
              </a:solidFill>
            </a:endParaRPr>
          </a:p>
          <a:p>
            <a:pPr indent="-344019" lvl="0" marL="45720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en" sz="1965">
                <a:solidFill>
                  <a:schemeClr val="dk1"/>
                </a:solidFill>
              </a:rPr>
              <a:t>User navigates to career selection</a:t>
            </a:r>
            <a:endParaRPr sz="1965">
              <a:solidFill>
                <a:schemeClr val="dk1"/>
              </a:solidFill>
            </a:endParaRPr>
          </a:p>
          <a:p>
            <a:pPr indent="-344019" lvl="0" marL="45720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en" sz="1965">
                <a:solidFill>
                  <a:schemeClr val="dk1"/>
                </a:solidFill>
              </a:rPr>
              <a:t>User selects a career from a dropdown menu</a:t>
            </a:r>
            <a:endParaRPr sz="1965">
              <a:solidFill>
                <a:schemeClr val="dk1"/>
              </a:solidFill>
            </a:endParaRPr>
          </a:p>
          <a:p>
            <a:pPr indent="-344019" lvl="0" marL="45720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en" sz="1965">
                <a:solidFill>
                  <a:schemeClr val="dk1"/>
                </a:solidFill>
              </a:rPr>
              <a:t>The system retrieves:</a:t>
            </a:r>
            <a:endParaRPr sz="1965">
              <a:solidFill>
                <a:schemeClr val="dk1"/>
              </a:solidFill>
            </a:endParaRPr>
          </a:p>
          <a:p>
            <a:pPr indent="-344019" lvl="0" marL="91440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en" sz="1965">
                <a:solidFill>
                  <a:schemeClr val="dk1"/>
                </a:solidFill>
              </a:rPr>
              <a:t>Career title</a:t>
            </a:r>
            <a:endParaRPr sz="1965">
              <a:solidFill>
                <a:schemeClr val="dk1"/>
              </a:solidFill>
            </a:endParaRPr>
          </a:p>
          <a:p>
            <a:pPr indent="-344019" lvl="0" marL="91440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en" sz="1965">
                <a:solidFill>
                  <a:schemeClr val="dk1"/>
                </a:solidFill>
              </a:rPr>
              <a:t>Top importance-ranked skills for the selected career</a:t>
            </a:r>
            <a:endParaRPr sz="1965">
              <a:solidFill>
                <a:schemeClr val="dk1"/>
              </a:solidFill>
            </a:endParaRPr>
          </a:p>
          <a:p>
            <a:pPr indent="-344019" lvl="0" marL="45720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en" sz="1965">
                <a:solidFill>
                  <a:schemeClr val="dk1"/>
                </a:solidFill>
              </a:rPr>
              <a:t>User completes a skills survey (rated on a 0–7 scale)</a:t>
            </a:r>
            <a:endParaRPr sz="1900">
              <a:solidFill>
                <a:schemeClr val="dk1"/>
              </a:solidFill>
            </a:endParaRPr>
          </a:p>
        </p:txBody>
      </p:sp>
      <p:sp>
        <p:nvSpPr>
          <p:cNvPr id="121" name="Google Shape;121;p18"/>
          <p:cNvSpPr txBox="1"/>
          <p:nvPr>
            <p:ph idx="1" type="body"/>
          </p:nvPr>
        </p:nvSpPr>
        <p:spPr>
          <a:xfrm>
            <a:off x="4349875" y="1076550"/>
            <a:ext cx="4572000" cy="378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lnSpc>
                <a:spcPct val="120000"/>
              </a:lnSpc>
              <a:spcBef>
                <a:spcPts val="518"/>
              </a:spcBef>
              <a:spcAft>
                <a:spcPts val="0"/>
              </a:spcAft>
              <a:buNone/>
            </a:pPr>
            <a:r>
              <a:rPr lang="en" sz="1965">
                <a:solidFill>
                  <a:schemeClr val="dk1"/>
                </a:solidFill>
              </a:rPr>
              <a:t>5.    The system:</a:t>
            </a:r>
            <a:endParaRPr sz="1965">
              <a:solidFill>
                <a:schemeClr val="dk1"/>
              </a:solidFill>
            </a:endParaRPr>
          </a:p>
          <a:p>
            <a:pPr indent="-344019" lvl="0" marL="914400" rtl="0" algn="l">
              <a:lnSpc>
                <a:spcPct val="12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en" sz="1965">
                <a:solidFill>
                  <a:schemeClr val="dk1"/>
                </a:solidFill>
              </a:rPr>
              <a:t>Calculates a compatibility score</a:t>
            </a:r>
            <a:endParaRPr sz="1965">
              <a:solidFill>
                <a:schemeClr val="dk1"/>
              </a:solidFill>
            </a:endParaRPr>
          </a:p>
          <a:p>
            <a:pPr indent="-344019" lvl="0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en" sz="1965">
                <a:solidFill>
                  <a:schemeClr val="dk1"/>
                </a:solidFill>
              </a:rPr>
              <a:t>Identifies skill gaps</a:t>
            </a:r>
            <a:endParaRPr sz="1965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20000"/>
              </a:lnSpc>
              <a:spcBef>
                <a:spcPts val="518"/>
              </a:spcBef>
              <a:spcAft>
                <a:spcPts val="0"/>
              </a:spcAft>
              <a:buNone/>
            </a:pPr>
            <a:r>
              <a:rPr lang="en" sz="1965">
                <a:solidFill>
                  <a:schemeClr val="dk1"/>
                </a:solidFill>
              </a:rPr>
              <a:t>6.    Results page displays:</a:t>
            </a:r>
            <a:endParaRPr sz="1965">
              <a:solidFill>
                <a:schemeClr val="dk1"/>
              </a:solidFill>
            </a:endParaRPr>
          </a:p>
          <a:p>
            <a:pPr indent="-344019" lvl="0" marL="914400" rtl="0" algn="l">
              <a:lnSpc>
                <a:spcPct val="12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en" sz="1965">
                <a:solidFill>
                  <a:schemeClr val="dk1"/>
                </a:solidFill>
              </a:rPr>
              <a:t>Compatibility score (percentage)</a:t>
            </a:r>
            <a:endParaRPr sz="1965">
              <a:solidFill>
                <a:schemeClr val="dk1"/>
              </a:solidFill>
            </a:endParaRPr>
          </a:p>
          <a:p>
            <a:pPr indent="-344019" lvl="0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en" sz="1965">
                <a:solidFill>
                  <a:schemeClr val="dk1"/>
                </a:solidFill>
              </a:rPr>
              <a:t>Matched skills</a:t>
            </a:r>
            <a:endParaRPr sz="1965">
              <a:solidFill>
                <a:schemeClr val="dk1"/>
              </a:solidFill>
            </a:endParaRPr>
          </a:p>
          <a:p>
            <a:pPr indent="-344019" lvl="0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en" sz="1965">
                <a:solidFill>
                  <a:schemeClr val="dk1"/>
                </a:solidFill>
              </a:rPr>
              <a:t>Skills to Improve</a:t>
            </a:r>
            <a:endParaRPr sz="1965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20000"/>
              </a:lnSpc>
              <a:spcBef>
                <a:spcPts val="518"/>
              </a:spcBef>
              <a:spcAft>
                <a:spcPts val="0"/>
              </a:spcAft>
              <a:buNone/>
            </a:pPr>
            <a:r>
              <a:rPr lang="en" sz="1965">
                <a:solidFill>
                  <a:schemeClr val="dk1"/>
                </a:solidFill>
              </a:rPr>
              <a:t>7.    User clicks a button to generate a         </a:t>
            </a:r>
            <a:endParaRPr sz="1965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20000"/>
              </a:lnSpc>
              <a:spcBef>
                <a:spcPts val="518"/>
              </a:spcBef>
              <a:spcAft>
                <a:spcPts val="0"/>
              </a:spcAft>
              <a:buNone/>
            </a:pPr>
            <a:r>
              <a:rPr lang="en" sz="1965">
                <a:solidFill>
                  <a:schemeClr val="dk1"/>
                </a:solidFill>
              </a:rPr>
              <a:t>        PDF report</a:t>
            </a:r>
            <a:endParaRPr sz="1965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20000"/>
              </a:lnSpc>
              <a:spcBef>
                <a:spcPts val="518"/>
              </a:spcBef>
              <a:spcAft>
                <a:spcPts val="0"/>
              </a:spcAft>
              <a:buNone/>
            </a:pPr>
            <a:r>
              <a:rPr lang="en" sz="1965">
                <a:solidFill>
                  <a:schemeClr val="dk1"/>
                </a:solidFill>
              </a:rPr>
              <a:t>8.    PDF report is generated and </a:t>
            </a:r>
            <a:endParaRPr sz="1965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20000"/>
              </a:lnSpc>
              <a:spcBef>
                <a:spcPts val="518"/>
              </a:spcBef>
              <a:spcAft>
                <a:spcPts val="0"/>
              </a:spcAft>
              <a:buNone/>
            </a:pPr>
            <a:r>
              <a:rPr lang="en" sz="1965">
                <a:solidFill>
                  <a:schemeClr val="dk1"/>
                </a:solidFill>
              </a:rPr>
              <a:t>        downloaded</a:t>
            </a:r>
            <a:endParaRPr sz="1900">
              <a:solidFill>
                <a:schemeClr val="dk1"/>
              </a:solidFill>
            </a:endParaRPr>
          </a:p>
        </p:txBody>
      </p:sp>
      <p:sp>
        <p:nvSpPr>
          <p:cNvPr id="122" name="Google Shape;122;p18"/>
          <p:cNvSpPr txBox="1"/>
          <p:nvPr>
            <p:ph idx="1" type="body"/>
          </p:nvPr>
        </p:nvSpPr>
        <p:spPr>
          <a:xfrm>
            <a:off x="0" y="0"/>
            <a:ext cx="14286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592"/>
              </a:spcBef>
              <a:spcAft>
                <a:spcPts val="1200"/>
              </a:spcAft>
              <a:buSzPts val="440"/>
              <a:buNone/>
            </a:pPr>
            <a:r>
              <a:rPr i="1" lang="en" sz="1280">
                <a:solidFill>
                  <a:schemeClr val="accent6"/>
                </a:solidFill>
              </a:rPr>
              <a:t>Mark Olmscheid</a:t>
            </a:r>
            <a:r>
              <a:rPr i="1" lang="en" sz="1120">
                <a:solidFill>
                  <a:schemeClr val="accent6"/>
                </a:solidFill>
              </a:rPr>
              <a:t>:</a:t>
            </a:r>
            <a:endParaRPr i="1" sz="1120"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19" title="Talent Trail Demo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32375" y="567225"/>
            <a:ext cx="5563300" cy="4172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0"/>
          <p:cNvSpPr txBox="1"/>
          <p:nvPr>
            <p:ph type="title"/>
          </p:nvPr>
        </p:nvSpPr>
        <p:spPr>
          <a:xfrm>
            <a:off x="311700" y="241371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System Architecture Overview</a:t>
            </a:r>
            <a:endParaRPr/>
          </a:p>
        </p:txBody>
      </p:sp>
      <p:sp>
        <p:nvSpPr>
          <p:cNvPr id="133" name="Google Shape;133;p20"/>
          <p:cNvSpPr txBox="1"/>
          <p:nvPr>
            <p:ph idx="1" type="body"/>
          </p:nvPr>
        </p:nvSpPr>
        <p:spPr>
          <a:xfrm>
            <a:off x="2602800" y="912093"/>
            <a:ext cx="3938400" cy="16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305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Frontend: HTML, CSS</a:t>
            </a:r>
            <a:endParaRPr sz="1200"/>
          </a:p>
          <a:p>
            <a:pPr indent="-27305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Backend: Python, Flask</a:t>
            </a:r>
            <a:endParaRPr sz="1200"/>
          </a:p>
          <a:p>
            <a:pPr indent="-27305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Database: SQLite, O*NET</a:t>
            </a:r>
            <a:endParaRPr sz="1200"/>
          </a:p>
        </p:txBody>
      </p:sp>
      <p:sp>
        <p:nvSpPr>
          <p:cNvPr id="134" name="Google Shape;134;p20"/>
          <p:cNvSpPr/>
          <p:nvPr/>
        </p:nvSpPr>
        <p:spPr>
          <a:xfrm>
            <a:off x="271197" y="2757096"/>
            <a:ext cx="1113300" cy="582900"/>
          </a:xfrm>
          <a:prstGeom prst="rect">
            <a:avLst/>
          </a:prstGeom>
          <a:solidFill>
            <a:srgbClr val="F0F6FC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User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5" name="Google Shape;135;p20"/>
          <p:cNvCxnSpPr>
            <a:stCxn id="134" idx="3"/>
          </p:cNvCxnSpPr>
          <p:nvPr/>
        </p:nvCxnSpPr>
        <p:spPr>
          <a:xfrm>
            <a:off x="1384497" y="3048546"/>
            <a:ext cx="5511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6" name="Google Shape;136;p20"/>
          <p:cNvSpPr/>
          <p:nvPr/>
        </p:nvSpPr>
        <p:spPr>
          <a:xfrm>
            <a:off x="1940847" y="2757096"/>
            <a:ext cx="1344300" cy="582900"/>
          </a:xfrm>
          <a:prstGeom prst="rect">
            <a:avLst/>
          </a:prstGeom>
          <a:solidFill>
            <a:srgbClr val="F0F6FC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Frontend</a:t>
            </a:r>
            <a:br>
              <a:rPr lang="en"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latin typeface="Roboto"/>
                <a:ea typeface="Roboto"/>
                <a:cs typeface="Roboto"/>
                <a:sym typeface="Roboto"/>
              </a:rPr>
              <a:t>(HTML/CSS)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7" name="Google Shape;137;p20"/>
          <p:cNvCxnSpPr/>
          <p:nvPr/>
        </p:nvCxnSpPr>
        <p:spPr>
          <a:xfrm>
            <a:off x="3285147" y="3052521"/>
            <a:ext cx="5145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8" name="Google Shape;138;p20"/>
          <p:cNvSpPr/>
          <p:nvPr/>
        </p:nvSpPr>
        <p:spPr>
          <a:xfrm>
            <a:off x="3799647" y="2757096"/>
            <a:ext cx="1465200" cy="582900"/>
          </a:xfrm>
          <a:prstGeom prst="rect">
            <a:avLst/>
          </a:prstGeom>
          <a:solidFill>
            <a:srgbClr val="F0F6FC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Backend</a:t>
            </a:r>
            <a:br>
              <a:rPr lang="en"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latin typeface="Roboto"/>
                <a:ea typeface="Roboto"/>
                <a:cs typeface="Roboto"/>
                <a:sym typeface="Roboto"/>
              </a:rPr>
              <a:t>(Python, Flask)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9" name="Google Shape;139;p20"/>
          <p:cNvCxnSpPr/>
          <p:nvPr/>
        </p:nvCxnSpPr>
        <p:spPr>
          <a:xfrm>
            <a:off x="4374713" y="3340071"/>
            <a:ext cx="0" cy="385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0" name="Google Shape;140;p20"/>
          <p:cNvSpPr/>
          <p:nvPr/>
        </p:nvSpPr>
        <p:spPr>
          <a:xfrm>
            <a:off x="3799800" y="3725881"/>
            <a:ext cx="1465200" cy="810900"/>
          </a:xfrm>
          <a:prstGeom prst="rect">
            <a:avLst/>
          </a:prstGeom>
          <a:solidFill>
            <a:srgbClr val="F0F6FC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SQLite Database (O*NET Data)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1" name="Google Shape;141;p20"/>
          <p:cNvCxnSpPr/>
          <p:nvPr/>
        </p:nvCxnSpPr>
        <p:spPr>
          <a:xfrm>
            <a:off x="5264997" y="3048584"/>
            <a:ext cx="5145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2" name="Google Shape;142;p20"/>
          <p:cNvSpPr/>
          <p:nvPr/>
        </p:nvSpPr>
        <p:spPr>
          <a:xfrm>
            <a:off x="5779647" y="2761034"/>
            <a:ext cx="1465200" cy="582900"/>
          </a:xfrm>
          <a:prstGeom prst="rect">
            <a:avLst/>
          </a:prstGeom>
          <a:solidFill>
            <a:srgbClr val="F0F6FC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PDF Generation</a:t>
            </a:r>
            <a:br>
              <a:rPr lang="en"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latin typeface="Roboto"/>
                <a:ea typeface="Roboto"/>
                <a:cs typeface="Roboto"/>
                <a:sym typeface="Roboto"/>
              </a:rPr>
              <a:t>(HTML → PDF)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3" name="Google Shape;143;p20"/>
          <p:cNvCxnSpPr/>
          <p:nvPr/>
        </p:nvCxnSpPr>
        <p:spPr>
          <a:xfrm>
            <a:off x="7244847" y="3044646"/>
            <a:ext cx="5145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4" name="Google Shape;144;p20"/>
          <p:cNvSpPr/>
          <p:nvPr/>
        </p:nvSpPr>
        <p:spPr>
          <a:xfrm>
            <a:off x="7759497" y="2757096"/>
            <a:ext cx="1113300" cy="582900"/>
          </a:xfrm>
          <a:prstGeom prst="rect">
            <a:avLst/>
          </a:prstGeom>
          <a:solidFill>
            <a:srgbClr val="F0F6FC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User Download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5" name="Google Shape;145;p20"/>
          <p:cNvCxnSpPr/>
          <p:nvPr/>
        </p:nvCxnSpPr>
        <p:spPr>
          <a:xfrm rot="10800000">
            <a:off x="4653175" y="3332290"/>
            <a:ext cx="0" cy="393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6" name="Google Shape;146;p20"/>
          <p:cNvSpPr txBox="1"/>
          <p:nvPr>
            <p:ph idx="1" type="body"/>
          </p:nvPr>
        </p:nvSpPr>
        <p:spPr>
          <a:xfrm>
            <a:off x="0" y="0"/>
            <a:ext cx="14286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592"/>
              </a:spcBef>
              <a:spcAft>
                <a:spcPts val="1200"/>
              </a:spcAft>
              <a:buSzPts val="440"/>
              <a:buNone/>
            </a:pPr>
            <a:r>
              <a:rPr i="1" lang="en" sz="1280">
                <a:solidFill>
                  <a:schemeClr val="accent6"/>
                </a:solidFill>
              </a:rPr>
              <a:t>Lisa Wilder</a:t>
            </a:r>
            <a:r>
              <a:rPr i="1" lang="en" sz="1120">
                <a:solidFill>
                  <a:schemeClr val="accent6"/>
                </a:solidFill>
              </a:rPr>
              <a:t>:</a:t>
            </a:r>
            <a:endParaRPr i="1" sz="1120"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1"/>
          <p:cNvSpPr txBox="1"/>
          <p:nvPr>
            <p:ph type="title"/>
          </p:nvPr>
        </p:nvSpPr>
        <p:spPr>
          <a:xfrm>
            <a:off x="311688" y="38215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Tools Used</a:t>
            </a:r>
            <a:endParaRPr/>
          </a:p>
        </p:txBody>
      </p:sp>
      <p:graphicFrame>
        <p:nvGraphicFramePr>
          <p:cNvPr id="152" name="Google Shape;152;p21"/>
          <p:cNvGraphicFramePr/>
          <p:nvPr/>
        </p:nvGraphicFramePr>
        <p:xfrm>
          <a:off x="311688" y="1212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{9ABE55A6-D7D4-46D3-AD02-78F81873643E}</a:tableStyleId>
              </a:tblPr>
              <a:tblGrid>
                <a:gridCol w="1308350"/>
                <a:gridCol w="2811325"/>
                <a:gridCol w="4400900"/>
              </a:tblGrid>
              <a:tr h="400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Tool</a:t>
                      </a:r>
                      <a:endParaRPr b="1"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Purpose</a:t>
                      </a:r>
                      <a:endParaRPr b="1"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Evaluation</a:t>
                      </a:r>
                      <a:endParaRPr b="1"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6FC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Python</a:t>
                      </a:r>
                      <a:endParaRPr b="1"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Backend logic, API, skill gap calculations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Excellent:</a:t>
                      </a: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 Flexible, well-supported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6FC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Flask</a:t>
                      </a:r>
                      <a:endParaRPr b="1"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Web server for routing and templating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Excellent:</a:t>
                      </a: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 Lightweight and easy to integrate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6FC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SQLite</a:t>
                      </a:r>
                      <a:endParaRPr b="1"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Store and query O*NET data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Good:</a:t>
                      </a: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 Simple for MVP, but large dataset posed performance challenges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6FC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HTML/CSS</a:t>
                      </a:r>
                      <a:endParaRPr b="1"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Frontend layout and styling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Excel</a:t>
                      </a:r>
                      <a:r>
                        <a:rPr b="1"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lent:</a:t>
                      </a: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 Easy to customize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6FC"/>
                    </a:solidFill>
                  </a:tcPr>
                </a:tc>
              </a:tr>
              <a:tr h="371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WeasyPrint</a:t>
                      </a:r>
                      <a:endParaRPr b="1"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PDF report generation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Good:</a:t>
                      </a: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 Worked well once configured, learning curve was steep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6FC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GitHub</a:t>
                      </a:r>
                      <a:endParaRPr b="1"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Version control, collaboration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Excellent:</a:t>
                      </a: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 Crucial for managing code and merge conflicts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6FC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JupyterHub</a:t>
                      </a:r>
                      <a:endParaRPr b="1"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Development and testing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Mixed:</a:t>
                      </a: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 Proxy URL and dataset size caused issues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6FC"/>
                    </a:solidFill>
                  </a:tcPr>
                </a:tc>
              </a:tr>
            </a:tbl>
          </a:graphicData>
        </a:graphic>
      </p:graphicFrame>
      <p:sp>
        <p:nvSpPr>
          <p:cNvPr id="153" name="Google Shape;153;p21"/>
          <p:cNvSpPr txBox="1"/>
          <p:nvPr>
            <p:ph idx="4294967295" type="body"/>
          </p:nvPr>
        </p:nvSpPr>
        <p:spPr>
          <a:xfrm>
            <a:off x="0" y="0"/>
            <a:ext cx="14286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592"/>
              </a:spcBef>
              <a:spcAft>
                <a:spcPts val="1200"/>
              </a:spcAft>
              <a:buSzPts val="440"/>
              <a:buNone/>
            </a:pPr>
            <a:r>
              <a:rPr i="1" lang="en" sz="1280">
                <a:solidFill>
                  <a:schemeClr val="accent6"/>
                </a:solidFill>
              </a:rPr>
              <a:t>Mark Olmscheid</a:t>
            </a:r>
            <a:r>
              <a:rPr i="1" lang="en" sz="1120">
                <a:solidFill>
                  <a:schemeClr val="accent6"/>
                </a:solidFill>
              </a:rPr>
              <a:t>:</a:t>
            </a:r>
            <a:endParaRPr i="1" sz="1120"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2"/>
          <p:cNvSpPr txBox="1"/>
          <p:nvPr>
            <p:ph type="title"/>
          </p:nvPr>
        </p:nvSpPr>
        <p:spPr>
          <a:xfrm>
            <a:off x="311688" y="38215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Tools Used</a:t>
            </a:r>
            <a:endParaRPr/>
          </a:p>
        </p:txBody>
      </p:sp>
      <p:sp>
        <p:nvSpPr>
          <p:cNvPr id="159" name="Google Shape;159;p22"/>
          <p:cNvSpPr txBox="1"/>
          <p:nvPr>
            <p:ph idx="4294967295" type="body"/>
          </p:nvPr>
        </p:nvSpPr>
        <p:spPr>
          <a:xfrm>
            <a:off x="0" y="0"/>
            <a:ext cx="14286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592"/>
              </a:spcBef>
              <a:spcAft>
                <a:spcPts val="1200"/>
              </a:spcAft>
              <a:buSzPts val="440"/>
              <a:buNone/>
            </a:pPr>
            <a:r>
              <a:rPr i="1" lang="en" sz="1280">
                <a:solidFill>
                  <a:schemeClr val="accent6"/>
                </a:solidFill>
              </a:rPr>
              <a:t>Lisa Wilder:</a:t>
            </a:r>
            <a:endParaRPr i="1" sz="1120">
              <a:solidFill>
                <a:schemeClr val="accent6"/>
              </a:solidFill>
            </a:endParaRPr>
          </a:p>
        </p:txBody>
      </p:sp>
      <p:sp>
        <p:nvSpPr>
          <p:cNvPr id="160" name="Google Shape;160;p22"/>
          <p:cNvSpPr txBox="1"/>
          <p:nvPr/>
        </p:nvSpPr>
        <p:spPr>
          <a:xfrm>
            <a:off x="434500" y="1135600"/>
            <a:ext cx="4137600" cy="31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★"/>
            </a:pPr>
            <a:r>
              <a:rPr lang="en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Jira Board: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Track tasks, ownership and team progress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Communication about tasks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Visual representation of status of project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Initially the board had a minimal framework that grew as the project evolved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1" name="Google Shape;161;p22" title="Screenshot 2026-04-13 at 2.37.06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8450" y="1135600"/>
            <a:ext cx="4267102" cy="27940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3"/>
          <p:cNvSpPr txBox="1"/>
          <p:nvPr>
            <p:ph type="title"/>
          </p:nvPr>
        </p:nvSpPr>
        <p:spPr>
          <a:xfrm>
            <a:off x="311700" y="294025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" sz="4400">
                <a:latin typeface="Calibri"/>
                <a:ea typeface="Calibri"/>
                <a:cs typeface="Calibri"/>
                <a:sym typeface="Calibri"/>
              </a:rPr>
              <a:t>Key Features Implemented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3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★"/>
            </a:pPr>
            <a:r>
              <a:rPr lang="en" sz="1500"/>
              <a:t>Career Selection &amp; Skill Retrieval</a:t>
            </a:r>
            <a:endParaRPr sz="1500"/>
          </a:p>
          <a:p>
            <a:pPr indent="-330200" lvl="1" marL="9144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/>
              <a:t>Browse Careers from the O*NET Database</a:t>
            </a:r>
            <a:endParaRPr/>
          </a:p>
          <a:p>
            <a:pPr indent="-330200" lvl="1" marL="9144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/>
              <a:t>Automatically fetch the most important skills for selected career</a:t>
            </a:r>
            <a:endParaRPr/>
          </a:p>
          <a:p>
            <a:pPr indent="-32385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★"/>
            </a:pPr>
            <a:r>
              <a:rPr lang="en" sz="1500"/>
              <a:t>Personalized Skill Survey</a:t>
            </a:r>
            <a:endParaRPr sz="1500"/>
          </a:p>
          <a:p>
            <a:pPr indent="-330200" lvl="1" marL="9144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/>
              <a:t>Users rate their proficiency in each skill (0-7)</a:t>
            </a:r>
            <a:endParaRPr/>
          </a:p>
          <a:p>
            <a:pPr indent="-32385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★"/>
            </a:pPr>
            <a:r>
              <a:rPr lang="en" sz="1500"/>
              <a:t>Feedback and Guidance</a:t>
            </a:r>
            <a:endParaRPr sz="1500"/>
          </a:p>
          <a:p>
            <a:pPr indent="-330200" lvl="1" marL="9144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/>
              <a:t>Suggests which skills to focus on for career compatibility</a:t>
            </a:r>
            <a:endParaRPr/>
          </a:p>
        </p:txBody>
      </p:sp>
      <p:sp>
        <p:nvSpPr>
          <p:cNvPr id="168" name="Google Shape;168;p23"/>
          <p:cNvSpPr txBox="1"/>
          <p:nvPr>
            <p:ph idx="2" type="body"/>
          </p:nvPr>
        </p:nvSpPr>
        <p:spPr>
          <a:xfrm>
            <a:off x="45720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238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★"/>
            </a:pPr>
            <a:r>
              <a:rPr lang="en" sz="1500"/>
              <a:t>Skill Gap Analysis &amp; Compatibility Score</a:t>
            </a:r>
            <a:endParaRPr sz="1500"/>
          </a:p>
          <a:p>
            <a:pPr indent="-330200" lvl="1" marL="9144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/>
              <a:t>Compares user ratings to O*NET skill levels</a:t>
            </a:r>
            <a:endParaRPr/>
          </a:p>
          <a:p>
            <a:pPr indent="-330200" lvl="1" marL="9144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/>
              <a:t>Calculates a compatibility score based on if the user meets or exceeds the O*NET baseline</a:t>
            </a:r>
            <a:endParaRPr/>
          </a:p>
          <a:p>
            <a:pPr indent="-330200" lvl="1" marL="9144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/>
              <a:t>Highlights matched skills and skills that need improvement</a:t>
            </a:r>
            <a:endParaRPr/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38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★"/>
            </a:pPr>
            <a:r>
              <a:rPr lang="en" sz="1500"/>
              <a:t>PDF Report Generation</a:t>
            </a:r>
            <a:endParaRPr sz="1500"/>
          </a:p>
          <a:p>
            <a:pPr indent="-330200" lvl="1" marL="9144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/>
              <a:t>Generates a downloadable, formatted PDF of survey results and O*NET proficiency comparison</a:t>
            </a:r>
            <a:endParaRPr/>
          </a:p>
        </p:txBody>
      </p:sp>
      <p:sp>
        <p:nvSpPr>
          <p:cNvPr id="169" name="Google Shape;169;p23"/>
          <p:cNvSpPr txBox="1"/>
          <p:nvPr>
            <p:ph idx="1" type="body"/>
          </p:nvPr>
        </p:nvSpPr>
        <p:spPr>
          <a:xfrm>
            <a:off x="0" y="0"/>
            <a:ext cx="14286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592"/>
              </a:spcBef>
              <a:spcAft>
                <a:spcPts val="1200"/>
              </a:spcAft>
              <a:buSzPts val="440"/>
              <a:buNone/>
            </a:pPr>
            <a:r>
              <a:rPr i="1" lang="en" sz="1280">
                <a:solidFill>
                  <a:schemeClr val="accent6"/>
                </a:solidFill>
              </a:rPr>
              <a:t>Kassidy Flick</a:t>
            </a:r>
            <a:r>
              <a:rPr i="1" lang="en" sz="1120">
                <a:solidFill>
                  <a:schemeClr val="accent6"/>
                </a:solidFill>
              </a:rPr>
              <a:t>:</a:t>
            </a:r>
            <a:endParaRPr i="1" sz="1120"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4"/>
          <p:cNvSpPr txBox="1"/>
          <p:nvPr>
            <p:ph type="title"/>
          </p:nvPr>
        </p:nvSpPr>
        <p:spPr>
          <a:xfrm>
            <a:off x="457200" y="161778"/>
            <a:ext cx="8229600" cy="85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300"/>
              <a:t>Compatibility Score</a:t>
            </a:r>
            <a:endParaRPr sz="4300"/>
          </a:p>
        </p:txBody>
      </p:sp>
      <p:sp>
        <p:nvSpPr>
          <p:cNvPr id="175" name="Google Shape;175;p24"/>
          <p:cNvSpPr txBox="1"/>
          <p:nvPr>
            <p:ph idx="1" type="body"/>
          </p:nvPr>
        </p:nvSpPr>
        <p:spPr>
          <a:xfrm>
            <a:off x="457200" y="1113551"/>
            <a:ext cx="8229600" cy="3771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lang="en">
                <a:solidFill>
                  <a:schemeClr val="dk1"/>
                </a:solidFill>
              </a:rPr>
              <a:t>Users rate their proficiency in each skill (0–7 scale, matching O*NET Leveling system)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lang="en">
                <a:solidFill>
                  <a:schemeClr val="dk1"/>
                </a:solidFill>
              </a:rPr>
              <a:t>For each skill, the app compares the user rating to the O*NET baseline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lang="en">
                <a:solidFill>
                  <a:schemeClr val="dk1"/>
                </a:solidFill>
              </a:rPr>
              <a:t>If the user meets or exceeds the O*NET Level, that skill is counted as a match.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6" name="Google Shape;176;p24"/>
          <p:cNvSpPr txBox="1"/>
          <p:nvPr>
            <p:ph idx="1" type="body"/>
          </p:nvPr>
        </p:nvSpPr>
        <p:spPr>
          <a:xfrm>
            <a:off x="0" y="0"/>
            <a:ext cx="14286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592"/>
              </a:spcBef>
              <a:spcAft>
                <a:spcPts val="1200"/>
              </a:spcAft>
              <a:buSzPts val="440"/>
              <a:buNone/>
            </a:pPr>
            <a:r>
              <a:rPr i="1" lang="en" sz="1280">
                <a:solidFill>
                  <a:schemeClr val="accent6"/>
                </a:solidFill>
              </a:rPr>
              <a:t>Mark Olmscheid</a:t>
            </a:r>
            <a:r>
              <a:rPr i="1" lang="en" sz="1120">
                <a:solidFill>
                  <a:schemeClr val="accent6"/>
                </a:solidFill>
              </a:rPr>
              <a:t>:</a:t>
            </a:r>
            <a:endParaRPr i="1" sz="1120">
              <a:solidFill>
                <a:schemeClr val="accent6"/>
              </a:solidFill>
            </a:endParaRPr>
          </a:p>
        </p:txBody>
      </p:sp>
      <p:pic>
        <p:nvPicPr>
          <p:cNvPr id="177" name="Google Shape;17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1310" y="3090950"/>
            <a:ext cx="4581375" cy="608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5"/>
          <p:cNvSpPr txBox="1"/>
          <p:nvPr>
            <p:ph type="title"/>
          </p:nvPr>
        </p:nvSpPr>
        <p:spPr>
          <a:xfrm>
            <a:off x="457200" y="622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4200">
                <a:latin typeface="Calibri"/>
                <a:ea typeface="Calibri"/>
                <a:cs typeface="Calibri"/>
                <a:sym typeface="Calibri"/>
              </a:rPr>
              <a:t>Weighted Gap Methodology</a:t>
            </a:r>
            <a:endParaRPr sz="2800"/>
          </a:p>
        </p:txBody>
      </p:sp>
      <p:graphicFrame>
        <p:nvGraphicFramePr>
          <p:cNvPr id="183" name="Google Shape;183;p25"/>
          <p:cNvGraphicFramePr/>
          <p:nvPr/>
        </p:nvGraphicFramePr>
        <p:xfrm>
          <a:off x="1537225" y="9819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{9ABE55A6-D7D4-46D3-AD02-78F81873643E}</a:tableStyleId>
              </a:tblPr>
              <a:tblGrid>
                <a:gridCol w="1019400"/>
                <a:gridCol w="4127225"/>
                <a:gridCol w="1330150"/>
              </a:tblGrid>
              <a:tr h="2631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Scale</a:t>
                      </a:r>
                      <a:endParaRPr b="1" sz="10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Roboto"/>
                          <a:ea typeface="Roboto"/>
                          <a:cs typeface="Roboto"/>
                          <a:sym typeface="Roboto"/>
                        </a:rPr>
                        <a:t>What It Measures</a:t>
                      </a:r>
                      <a:endParaRPr b="1" sz="10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Range</a:t>
                      </a:r>
                      <a:endParaRPr b="1" sz="10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6FC"/>
                    </a:solidFill>
                  </a:tcPr>
                </a:tc>
              </a:tr>
              <a:tr h="303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Roboto"/>
                          <a:ea typeface="Roboto"/>
                          <a:cs typeface="Roboto"/>
                          <a:sym typeface="Roboto"/>
                        </a:rPr>
                        <a:t>Importance</a:t>
                      </a:r>
                      <a:endParaRPr b="1" sz="10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Roboto"/>
                          <a:ea typeface="Roboto"/>
                          <a:cs typeface="Roboto"/>
                          <a:sym typeface="Roboto"/>
                        </a:rPr>
                        <a:t>How crucial a skill, task, or knowledge is to the job</a:t>
                      </a:r>
                      <a:endParaRPr sz="10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1–5</a:t>
                      </a:r>
                      <a:endParaRPr sz="10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6FC"/>
                    </a:solidFill>
                  </a:tcPr>
                </a:tc>
              </a:tr>
              <a:tr h="234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Roboto"/>
                          <a:ea typeface="Roboto"/>
                          <a:cs typeface="Roboto"/>
                          <a:sym typeface="Roboto"/>
                        </a:rPr>
                        <a:t>Level</a:t>
                      </a:r>
                      <a:endParaRPr b="1" sz="10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Roboto"/>
                          <a:ea typeface="Roboto"/>
                          <a:cs typeface="Roboto"/>
                          <a:sym typeface="Roboto"/>
                        </a:rPr>
                        <a:t>How proficient or advanced a skill needs to be</a:t>
                      </a:r>
                      <a:endParaRPr sz="10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Roboto"/>
                          <a:ea typeface="Roboto"/>
                          <a:cs typeface="Roboto"/>
                          <a:sym typeface="Roboto"/>
                        </a:rPr>
                        <a:t>0–7</a:t>
                      </a:r>
                      <a:endParaRPr sz="10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6FC"/>
                    </a:solidFill>
                  </a:tcPr>
                </a:tc>
              </a:tr>
            </a:tbl>
          </a:graphicData>
        </a:graphic>
      </p:graphicFrame>
      <p:sp>
        <p:nvSpPr>
          <p:cNvPr id="184" name="Google Shape;184;p25"/>
          <p:cNvSpPr txBox="1"/>
          <p:nvPr>
            <p:ph idx="1" type="body"/>
          </p:nvPr>
        </p:nvSpPr>
        <p:spPr>
          <a:xfrm>
            <a:off x="0" y="0"/>
            <a:ext cx="14286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592"/>
              </a:spcBef>
              <a:spcAft>
                <a:spcPts val="1200"/>
              </a:spcAft>
              <a:buSzPts val="440"/>
              <a:buNone/>
            </a:pPr>
            <a:r>
              <a:rPr i="1" lang="en" sz="1280">
                <a:solidFill>
                  <a:schemeClr val="accent6"/>
                </a:solidFill>
              </a:rPr>
              <a:t>Mark Olmscheid</a:t>
            </a:r>
            <a:r>
              <a:rPr i="1" lang="en" sz="1120">
                <a:solidFill>
                  <a:schemeClr val="accent6"/>
                </a:solidFill>
              </a:rPr>
              <a:t>:</a:t>
            </a:r>
            <a:endParaRPr i="1" sz="1120">
              <a:solidFill>
                <a:schemeClr val="accent6"/>
              </a:solidFill>
            </a:endParaRPr>
          </a:p>
        </p:txBody>
      </p:sp>
      <p:sp>
        <p:nvSpPr>
          <p:cNvPr id="185" name="Google Shape;185;p25"/>
          <p:cNvSpPr txBox="1"/>
          <p:nvPr/>
        </p:nvSpPr>
        <p:spPr>
          <a:xfrm>
            <a:off x="1153400" y="1945750"/>
            <a:ext cx="6936000" cy="31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AutoNum type="arabicPeriod"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Users rate their proficiency in each selected skill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AutoNum type="arabicPeriod"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Raw gap is calculated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AutoNum type="arabicPeriod"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Negative gaps are reset to zero (not treated as a deficiency if above O*NET Level)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AutoNum type="arabicPeriod"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Gap is weighted by importance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Weighted gap is used to rank skills from the highest priority </a:t>
            </a:r>
            <a:r>
              <a:rPr b="1" i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deficiency</a:t>
            </a:r>
            <a:r>
              <a:rPr b="1" i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to lowest.</a:t>
            </a:r>
            <a:endParaRPr b="1" i="1"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86" name="Google Shape;18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9425" y="2622850"/>
            <a:ext cx="29051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03375" y="3955475"/>
            <a:ext cx="3952875" cy="49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6"/>
          <p:cNvSpPr txBox="1"/>
          <p:nvPr>
            <p:ph type="title"/>
          </p:nvPr>
        </p:nvSpPr>
        <p:spPr>
          <a:xfrm>
            <a:off x="311700" y="217775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60"/>
              <a:buFont typeface="Calibri"/>
              <a:buNone/>
            </a:pPr>
            <a:r>
              <a:rPr lang="en" sz="386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Major Technical Challenges</a:t>
            </a:r>
            <a:endParaRPr sz="2600"/>
          </a:p>
        </p:txBody>
      </p:sp>
      <p:sp>
        <p:nvSpPr>
          <p:cNvPr id="193" name="Google Shape;193;p26"/>
          <p:cNvSpPr txBox="1"/>
          <p:nvPr>
            <p:ph idx="1" type="body"/>
          </p:nvPr>
        </p:nvSpPr>
        <p:spPr>
          <a:xfrm>
            <a:off x="311700" y="1014550"/>
            <a:ext cx="8520600" cy="32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3429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120"/>
              <a:buChar char="●"/>
            </a:pPr>
            <a:r>
              <a:rPr lang="en" sz="2130"/>
              <a:t>Handling Large O*NET Data</a:t>
            </a:r>
            <a:endParaRPr sz="2130"/>
          </a:p>
          <a:p>
            <a:pPr indent="-279400" lvl="1" marL="74295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" sz="1790"/>
              <a:t>Processing and querying the full database efficiently on JupyterHub</a:t>
            </a:r>
            <a:endParaRPr sz="1790"/>
          </a:p>
          <a:p>
            <a:pPr indent="-274320" lvl="0" marL="3429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20"/>
              <a:buChar char="●"/>
            </a:pPr>
            <a:r>
              <a:rPr lang="en" sz="2130"/>
              <a:t>JupyterHub Proxy &amp; URL Routing</a:t>
            </a:r>
            <a:endParaRPr sz="2130"/>
          </a:p>
          <a:p>
            <a:pPr indent="-279400" lvl="1" marL="74295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" sz="1790"/>
              <a:t>Adapting Flask routes to work behind the JupyterHub service prefix</a:t>
            </a:r>
            <a:endParaRPr sz="1790"/>
          </a:p>
          <a:p>
            <a:pPr indent="-274320" lvl="0" marL="3429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20"/>
              <a:buChar char="●"/>
            </a:pPr>
            <a:r>
              <a:rPr lang="en" sz="2130"/>
              <a:t>PDF Generation</a:t>
            </a:r>
            <a:endParaRPr sz="2130"/>
          </a:p>
          <a:p>
            <a:pPr indent="-279400" lvl="1" marL="74295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700"/>
              <a:buChar char="○"/>
            </a:pPr>
            <a:r>
              <a:rPr lang="en" sz="1790"/>
              <a:t>Learning and implementing libraries (WeasyPrint) to dynamically create reports</a:t>
            </a:r>
            <a:endParaRPr sz="1790"/>
          </a:p>
        </p:txBody>
      </p:sp>
      <p:sp>
        <p:nvSpPr>
          <p:cNvPr id="194" name="Google Shape;194;p26"/>
          <p:cNvSpPr txBox="1"/>
          <p:nvPr>
            <p:ph idx="1" type="body"/>
          </p:nvPr>
        </p:nvSpPr>
        <p:spPr>
          <a:xfrm>
            <a:off x="0" y="0"/>
            <a:ext cx="14286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592"/>
              </a:spcBef>
              <a:spcAft>
                <a:spcPts val="1200"/>
              </a:spcAft>
              <a:buSzPts val="440"/>
              <a:buNone/>
            </a:pPr>
            <a:r>
              <a:rPr i="1" lang="en" sz="1280">
                <a:solidFill>
                  <a:schemeClr val="accent6"/>
                </a:solidFill>
              </a:rPr>
              <a:t>Lisa Wilder</a:t>
            </a:r>
            <a:r>
              <a:rPr i="1" lang="en" sz="1120">
                <a:solidFill>
                  <a:schemeClr val="accent6"/>
                </a:solidFill>
              </a:rPr>
              <a:t>:</a:t>
            </a:r>
            <a:endParaRPr i="1" sz="1120"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7"/>
          <p:cNvSpPr txBox="1"/>
          <p:nvPr>
            <p:ph type="title"/>
          </p:nvPr>
        </p:nvSpPr>
        <p:spPr>
          <a:xfrm>
            <a:off x="457200" y="87521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Went Well</a:t>
            </a:r>
            <a:endParaRPr sz="2600"/>
          </a:p>
        </p:txBody>
      </p:sp>
      <p:sp>
        <p:nvSpPr>
          <p:cNvPr id="200" name="Google Shape;200;p27"/>
          <p:cNvSpPr txBox="1"/>
          <p:nvPr>
            <p:ph idx="1" type="body"/>
          </p:nvPr>
        </p:nvSpPr>
        <p:spPr>
          <a:xfrm>
            <a:off x="457200" y="1033500"/>
            <a:ext cx="4114800" cy="39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39871" lvl="0" marL="3429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578"/>
              <a:buChar char="●"/>
            </a:pPr>
            <a:r>
              <a:rPr lang="en" sz="1688"/>
              <a:t>Backend Functionality</a:t>
            </a:r>
            <a:endParaRPr sz="1688"/>
          </a:p>
          <a:p>
            <a:pPr indent="-261144" lvl="1" marL="74295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13"/>
              <a:buChar char="○"/>
            </a:pPr>
            <a:r>
              <a:rPr lang="en" sz="1456"/>
              <a:t>Successfully integrated Flask with SQLite and O*NET data</a:t>
            </a:r>
            <a:endParaRPr sz="1456"/>
          </a:p>
          <a:p>
            <a:pPr indent="-261144" lvl="1" marL="74295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13"/>
              <a:buChar char="○"/>
            </a:pPr>
            <a:r>
              <a:rPr lang="en" sz="1456"/>
              <a:t>Implemented skill gap calculation and weighted gap ranking</a:t>
            </a:r>
            <a:endParaRPr sz="1456"/>
          </a:p>
          <a:p>
            <a:pPr indent="-239871" lvl="0" marL="3429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578"/>
              <a:buChar char="●"/>
            </a:pPr>
            <a:r>
              <a:rPr lang="en" sz="1688"/>
              <a:t>User Flow &amp; Frontend</a:t>
            </a:r>
            <a:endParaRPr sz="1688"/>
          </a:p>
          <a:p>
            <a:pPr indent="-261144" lvl="1" marL="74295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13"/>
              <a:buChar char="○"/>
            </a:pPr>
            <a:r>
              <a:rPr lang="en" sz="1456"/>
              <a:t>Smooth career selection and survey experience</a:t>
            </a:r>
            <a:endParaRPr sz="1456"/>
          </a:p>
          <a:p>
            <a:pPr indent="-261144" lvl="1" marL="74295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13"/>
              <a:buChar char="○"/>
            </a:pPr>
            <a:r>
              <a:rPr lang="en" sz="1456"/>
              <a:t>Clear display of match scores and skill gaps</a:t>
            </a:r>
            <a:endParaRPr sz="1456"/>
          </a:p>
          <a:p>
            <a:pPr indent="-263901" lvl="1" marL="74295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56"/>
              <a:buChar char="○"/>
            </a:pPr>
            <a:r>
              <a:rPr lang="en" sz="1456"/>
              <a:t>Standard CSS styling throughout entire website</a:t>
            </a:r>
            <a:endParaRPr sz="1456"/>
          </a:p>
        </p:txBody>
      </p:sp>
      <p:sp>
        <p:nvSpPr>
          <p:cNvPr id="201" name="Google Shape;201;p27"/>
          <p:cNvSpPr txBox="1"/>
          <p:nvPr>
            <p:ph idx="1" type="body"/>
          </p:nvPr>
        </p:nvSpPr>
        <p:spPr>
          <a:xfrm>
            <a:off x="4572000" y="1033500"/>
            <a:ext cx="4114800" cy="39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7500"/>
          </a:bodyPr>
          <a:lstStyle/>
          <a:p>
            <a:pPr indent="-243761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3450"/>
              <a:t>Early usability improved overall design</a:t>
            </a:r>
            <a:endParaRPr sz="3450"/>
          </a:p>
          <a:p>
            <a:pPr indent="-243761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3450"/>
              <a:t>PDF Report Generation</a:t>
            </a:r>
            <a:endParaRPr sz="3450"/>
          </a:p>
          <a:p>
            <a:pPr indent="-260747" lvl="1" marL="7429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97403"/>
              <a:buChar char="○"/>
            </a:pPr>
            <a:r>
              <a:rPr lang="en" sz="3039"/>
              <a:t>Downloadable reports created from survey results</a:t>
            </a:r>
            <a:endParaRPr sz="3039"/>
          </a:p>
          <a:p>
            <a:pPr indent="-238046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94221"/>
              <a:buChar char="●"/>
            </a:pPr>
            <a:r>
              <a:rPr lang="en" sz="3461"/>
              <a:t>Problem-Solving &amp; Learning</a:t>
            </a:r>
            <a:endParaRPr sz="3461"/>
          </a:p>
          <a:p>
            <a:pPr indent="-260747" lvl="1" marL="7429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95597"/>
              <a:buChar char="○"/>
            </a:pPr>
            <a:r>
              <a:rPr lang="en" sz="3097"/>
              <a:t>Overcame challenges with JupyterHub proxy URLs</a:t>
            </a:r>
            <a:endParaRPr sz="3097"/>
          </a:p>
          <a:p>
            <a:pPr indent="-260747" lvl="1" marL="7429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95597"/>
              <a:buChar char="○"/>
            </a:pPr>
            <a:r>
              <a:rPr lang="en" sz="3097"/>
              <a:t>Learned new tools like WeasyPrint</a:t>
            </a:r>
            <a:endParaRPr sz="3097"/>
          </a:p>
          <a:p>
            <a:pPr indent="-238046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94221"/>
              <a:buChar char="●"/>
            </a:pPr>
            <a:r>
              <a:rPr lang="en" sz="3461"/>
              <a:t>Data Handling</a:t>
            </a:r>
            <a:endParaRPr sz="3461"/>
          </a:p>
          <a:p>
            <a:pPr indent="-260747" lvl="1" marL="7429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95597"/>
              <a:buChar char="○"/>
            </a:pPr>
            <a:r>
              <a:rPr lang="en" sz="3097"/>
              <a:t>Efficient queries for top skills and career-level information</a:t>
            </a:r>
            <a:endParaRPr sz="3097"/>
          </a:p>
        </p:txBody>
      </p:sp>
      <p:sp>
        <p:nvSpPr>
          <p:cNvPr id="202" name="Google Shape;202;p27"/>
          <p:cNvSpPr txBox="1"/>
          <p:nvPr>
            <p:ph idx="1" type="body"/>
          </p:nvPr>
        </p:nvSpPr>
        <p:spPr>
          <a:xfrm>
            <a:off x="0" y="0"/>
            <a:ext cx="14286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592"/>
              </a:spcBef>
              <a:spcAft>
                <a:spcPts val="1200"/>
              </a:spcAft>
              <a:buSzPts val="440"/>
              <a:buNone/>
            </a:pPr>
            <a:r>
              <a:rPr i="1" lang="en" sz="1280">
                <a:solidFill>
                  <a:schemeClr val="accent6"/>
                </a:solidFill>
              </a:rPr>
              <a:t>Kassidy Flick</a:t>
            </a:r>
            <a:r>
              <a:rPr i="1" lang="en" sz="1120">
                <a:solidFill>
                  <a:schemeClr val="accent6"/>
                </a:solidFill>
              </a:rPr>
              <a:t>:</a:t>
            </a:r>
            <a:endParaRPr i="1" sz="1120"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8"/>
          <p:cNvSpPr txBox="1"/>
          <p:nvPr>
            <p:ph type="title"/>
          </p:nvPr>
        </p:nvSpPr>
        <p:spPr>
          <a:xfrm>
            <a:off x="457200" y="137240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</a:t>
            </a:r>
            <a:r>
              <a:rPr lang="en" sz="4000">
                <a:latin typeface="Calibri"/>
                <a:ea typeface="Calibri"/>
                <a:cs typeface="Calibri"/>
                <a:sym typeface="Calibri"/>
              </a:rPr>
              <a:t>Could Have Gone Better</a:t>
            </a:r>
            <a:endParaRPr sz="2600"/>
          </a:p>
        </p:txBody>
      </p:sp>
      <p:sp>
        <p:nvSpPr>
          <p:cNvPr id="208" name="Google Shape;208;p28"/>
          <p:cNvSpPr txBox="1"/>
          <p:nvPr>
            <p:ph idx="1" type="body"/>
          </p:nvPr>
        </p:nvSpPr>
        <p:spPr>
          <a:xfrm>
            <a:off x="457200" y="1052775"/>
            <a:ext cx="4114800" cy="37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987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20"/>
              <a:buChar char="●"/>
            </a:pPr>
            <a:r>
              <a:rPr lang="en" sz="1500"/>
              <a:t>Time Management</a:t>
            </a:r>
            <a:endParaRPr sz="1500"/>
          </a:p>
          <a:p>
            <a:pPr indent="-25400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500"/>
              <a:t>Busy schedules caused uneven progress</a:t>
            </a:r>
            <a:endParaRPr sz="1500"/>
          </a:p>
          <a:p>
            <a:pPr indent="-22987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20"/>
              <a:buChar char="●"/>
            </a:pPr>
            <a:r>
              <a:rPr lang="en" sz="1500"/>
              <a:t>Team Communication</a:t>
            </a:r>
            <a:endParaRPr sz="1500"/>
          </a:p>
          <a:p>
            <a:pPr indent="-25400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500"/>
              <a:t>In the beginning, coordination issues led to delays and caused some miscommunications</a:t>
            </a:r>
            <a:endParaRPr sz="1500"/>
          </a:p>
          <a:p>
            <a:pPr indent="-22987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20"/>
              <a:buChar char="●"/>
            </a:pPr>
            <a:r>
              <a:rPr lang="en" sz="1500"/>
              <a:t>MVP Scope Adjustment</a:t>
            </a:r>
            <a:endParaRPr sz="1500"/>
          </a:p>
          <a:p>
            <a:pPr indent="-26670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Removed previous experience and education from compatibility scoring and user reports to meet deadlines</a:t>
            </a:r>
            <a:endParaRPr sz="760"/>
          </a:p>
        </p:txBody>
      </p:sp>
      <p:sp>
        <p:nvSpPr>
          <p:cNvPr id="209" name="Google Shape;209;p28"/>
          <p:cNvSpPr txBox="1"/>
          <p:nvPr>
            <p:ph idx="1" type="body"/>
          </p:nvPr>
        </p:nvSpPr>
        <p:spPr>
          <a:xfrm>
            <a:off x="4572000" y="1332123"/>
            <a:ext cx="4114800" cy="31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8125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50"/>
              <a:buChar char="●"/>
            </a:pPr>
            <a:r>
              <a:rPr lang="en" sz="1550"/>
              <a:t>Version Control &amp; Merging Conflicts</a:t>
            </a:r>
            <a:endParaRPr sz="1550"/>
          </a:p>
          <a:p>
            <a:pPr indent="-238125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50"/>
              <a:buChar char="●"/>
            </a:pPr>
            <a:r>
              <a:rPr lang="en" sz="1550"/>
              <a:t>PDF Generation</a:t>
            </a:r>
            <a:endParaRPr sz="1550"/>
          </a:p>
          <a:p>
            <a:pPr indent="-269875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50"/>
              <a:buChar char="○"/>
            </a:pPr>
            <a:r>
              <a:rPr lang="en" sz="1550"/>
              <a:t>Implementing final report generation and design towards the end of the project, which caused some last minute minor bugs</a:t>
            </a:r>
            <a:endParaRPr sz="1550"/>
          </a:p>
          <a:p>
            <a:pPr indent="-238125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50"/>
              <a:buChar char="●"/>
            </a:pPr>
            <a:r>
              <a:rPr lang="en" sz="1550"/>
              <a:t>Large &amp; Complex Database</a:t>
            </a:r>
            <a:endParaRPr sz="1550"/>
          </a:p>
          <a:p>
            <a:pPr indent="-269875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50"/>
              <a:buChar char="○"/>
            </a:pPr>
            <a:r>
              <a:rPr lang="en" sz="1550"/>
              <a:t>Many tables and schemas made initial querying and integration tricky</a:t>
            </a:r>
            <a:endParaRPr sz="1550"/>
          </a:p>
        </p:txBody>
      </p:sp>
      <p:sp>
        <p:nvSpPr>
          <p:cNvPr id="210" name="Google Shape;210;p28"/>
          <p:cNvSpPr txBox="1"/>
          <p:nvPr>
            <p:ph idx="1" type="body"/>
          </p:nvPr>
        </p:nvSpPr>
        <p:spPr>
          <a:xfrm>
            <a:off x="0" y="0"/>
            <a:ext cx="14286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592"/>
              </a:spcBef>
              <a:spcAft>
                <a:spcPts val="1200"/>
              </a:spcAft>
              <a:buSzPts val="440"/>
              <a:buNone/>
            </a:pPr>
            <a:r>
              <a:rPr i="1" lang="en" sz="1280">
                <a:solidFill>
                  <a:schemeClr val="accent6"/>
                </a:solidFill>
              </a:rPr>
              <a:t>Sarah Suliman</a:t>
            </a:r>
            <a:r>
              <a:rPr i="1" lang="en" sz="1120">
                <a:solidFill>
                  <a:schemeClr val="accent6"/>
                </a:solidFill>
              </a:rPr>
              <a:t>:</a:t>
            </a:r>
            <a:endParaRPr i="1" sz="1120"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9"/>
          <p:cNvSpPr txBox="1"/>
          <p:nvPr>
            <p:ph type="title"/>
          </p:nvPr>
        </p:nvSpPr>
        <p:spPr>
          <a:xfrm>
            <a:off x="311700" y="60436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60"/>
              <a:buFont typeface="Calibri"/>
              <a:buNone/>
            </a:pPr>
            <a:r>
              <a:rPr lang="en" sz="366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Lessons Learned</a:t>
            </a:r>
            <a:endParaRPr sz="2400"/>
          </a:p>
        </p:txBody>
      </p:sp>
      <p:sp>
        <p:nvSpPr>
          <p:cNvPr id="216" name="Google Shape;216;p29"/>
          <p:cNvSpPr txBox="1"/>
          <p:nvPr>
            <p:ph idx="1" type="body"/>
          </p:nvPr>
        </p:nvSpPr>
        <p:spPr>
          <a:xfrm>
            <a:off x="311700" y="824861"/>
            <a:ext cx="8520600" cy="36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45428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/>
              <a:t>Time &amp; Scope Management</a:t>
            </a:r>
            <a:endParaRPr/>
          </a:p>
          <a:p>
            <a:pPr indent="-253682" lvl="1" marL="742950" rtl="0" algn="l">
              <a:spcBef>
                <a:spcPts val="120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Break work into smaller milestones to avoid last-minute pressure</a:t>
            </a:r>
            <a:endParaRPr/>
          </a:p>
          <a:p>
            <a:pPr indent="-253682" lvl="1" marL="742950" rtl="0" algn="l">
              <a:spcBef>
                <a:spcPts val="120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Prioritize core MVP features over “nice-to-haves”</a:t>
            </a:r>
            <a:endParaRPr/>
          </a:p>
          <a:p>
            <a:pPr indent="-245428" lvl="0" marL="3429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/>
              <a:t>Team Communication</a:t>
            </a:r>
            <a:endParaRPr/>
          </a:p>
          <a:p>
            <a:pPr indent="-253682" lvl="1" marL="742950" rtl="0" algn="l">
              <a:spcBef>
                <a:spcPts val="120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Frequent check-ins and clear task assignments reduce misunderstandings</a:t>
            </a:r>
            <a:endParaRPr/>
          </a:p>
          <a:p>
            <a:pPr indent="-253682" lvl="1" marL="742950" rtl="0" algn="l">
              <a:spcBef>
                <a:spcPts val="120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Version control best practices prevent merge conflicts</a:t>
            </a:r>
            <a:endParaRPr/>
          </a:p>
          <a:p>
            <a:pPr indent="-245428" lvl="0" marL="3429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/>
              <a:t>Technical Insights</a:t>
            </a:r>
            <a:endParaRPr/>
          </a:p>
          <a:p>
            <a:pPr indent="-253682" lvl="1" marL="742950" rtl="0" algn="l">
              <a:spcBef>
                <a:spcPts val="120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Large datasets require careful querying and memory management</a:t>
            </a:r>
            <a:endParaRPr/>
          </a:p>
          <a:p>
            <a:pPr indent="-253682" lvl="1" marL="742950" rtl="0" algn="l">
              <a:spcBef>
                <a:spcPts val="120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Learning new libraries takes additional time</a:t>
            </a:r>
            <a:endParaRPr/>
          </a:p>
          <a:p>
            <a:pPr indent="-253682" lvl="1" marL="742950" rtl="0" algn="l">
              <a:spcBef>
                <a:spcPts val="1200"/>
              </a:spcBef>
              <a:spcAft>
                <a:spcPts val="1200"/>
              </a:spcAft>
              <a:buSzPct val="100000"/>
              <a:buChar char="○"/>
            </a:pPr>
            <a:r>
              <a:rPr lang="en"/>
              <a:t>Backend design should anticipate proxy environments (like JupyterHub)</a:t>
            </a:r>
            <a:endParaRPr/>
          </a:p>
        </p:txBody>
      </p:sp>
      <p:sp>
        <p:nvSpPr>
          <p:cNvPr id="217" name="Google Shape;217;p29"/>
          <p:cNvSpPr txBox="1"/>
          <p:nvPr>
            <p:ph idx="1" type="body"/>
          </p:nvPr>
        </p:nvSpPr>
        <p:spPr>
          <a:xfrm>
            <a:off x="0" y="0"/>
            <a:ext cx="14286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592"/>
              </a:spcBef>
              <a:spcAft>
                <a:spcPts val="1200"/>
              </a:spcAft>
              <a:buSzPts val="440"/>
              <a:buNone/>
            </a:pPr>
            <a:r>
              <a:rPr i="1" lang="en" sz="1280">
                <a:solidFill>
                  <a:schemeClr val="accent6"/>
                </a:solidFill>
              </a:rPr>
              <a:t>Lisa Wilder</a:t>
            </a:r>
            <a:r>
              <a:rPr i="1" lang="en" sz="1120">
                <a:solidFill>
                  <a:schemeClr val="accent6"/>
                </a:solidFill>
              </a:rPr>
              <a:t>:</a:t>
            </a:r>
            <a:endParaRPr i="1" sz="1120"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0"/>
          <p:cNvSpPr txBox="1"/>
          <p:nvPr>
            <p:ph type="title"/>
          </p:nvPr>
        </p:nvSpPr>
        <p:spPr>
          <a:xfrm>
            <a:off x="457200" y="1678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4100">
                <a:latin typeface="Calibri"/>
                <a:ea typeface="Calibri"/>
                <a:cs typeface="Calibri"/>
                <a:sym typeface="Calibri"/>
              </a:rPr>
              <a:t>Potential </a:t>
            </a:r>
            <a:r>
              <a:rPr lang="en" sz="4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Future </a:t>
            </a:r>
            <a:r>
              <a:rPr lang="en" sz="4100">
                <a:latin typeface="Calibri"/>
                <a:ea typeface="Calibri"/>
                <a:cs typeface="Calibri"/>
                <a:sym typeface="Calibri"/>
              </a:rPr>
              <a:t>Expansions</a:t>
            </a:r>
            <a:endParaRPr sz="2700"/>
          </a:p>
        </p:txBody>
      </p:sp>
      <p:graphicFrame>
        <p:nvGraphicFramePr>
          <p:cNvPr id="223" name="Google Shape;223;p30"/>
          <p:cNvGraphicFramePr/>
          <p:nvPr/>
        </p:nvGraphicFramePr>
        <p:xfrm>
          <a:off x="371475" y="1101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{8112AFAD-1407-4FCA-997B-653156A51999}</a:tableStyleId>
              </a:tblPr>
              <a:tblGrid>
                <a:gridCol w="1752600"/>
                <a:gridCol w="2952750"/>
                <a:gridCol w="3695700"/>
              </a:tblGrid>
              <a:tr h="372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Feature</a:t>
                      </a:r>
                      <a:endParaRPr b="1"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Description</a:t>
                      </a:r>
                      <a:endParaRPr b="1"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Benefit</a:t>
                      </a:r>
                      <a:endParaRPr b="1"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6FC"/>
                    </a:solidFill>
                  </a:tcPr>
                </a:tc>
              </a:tr>
              <a:tr h="604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Incorporate Experience and Education</a:t>
                      </a:r>
                      <a:endParaRPr b="1"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Include previous work experience and education in compatibility scoring</a:t>
                      </a:r>
                      <a:endParaRPr i="1"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Produces a more holistic and accurate assessment of career readiness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6FC"/>
                    </a:solidFill>
                  </a:tcPr>
                </a:tc>
              </a:tr>
              <a:tr h="627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592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Education Distribution Visualization</a:t>
                      </a:r>
                      <a:endParaRPr b="1"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592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i="1"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Display typical education distribution for selected careers</a:t>
                      </a:r>
                      <a:endParaRPr i="1"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592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Helps users understand common career paths and educational requirements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6FC"/>
                    </a:solidFill>
                  </a:tcPr>
                </a:tc>
              </a:tr>
              <a:tr h="604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Multi-Career Comparison</a:t>
                      </a:r>
                      <a:endParaRPr b="1"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Compare user skills across multiple careers</a:t>
                      </a:r>
                      <a:endParaRPr i="1"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Helps users explore alternative career paths and make informed decisions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6FC"/>
                    </a:solidFill>
                  </a:tcPr>
                </a:tc>
              </a:tr>
              <a:tr h="633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592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User Accounts &amp; Saved Reports</a:t>
                      </a:r>
                      <a:endParaRPr b="1"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592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i="1"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Enable login and report saving for multiple sessions</a:t>
                      </a:r>
                      <a:endParaRPr i="1"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592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Supports long-term tracking and personalized planning  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6FC"/>
                    </a:solidFill>
                  </a:tcPr>
                </a:tc>
              </a:tr>
              <a:tr h="633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592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Trie Tree Career Selection</a:t>
                      </a:r>
                      <a:endParaRPr b="1"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592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i="1"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Replace career selection dropdown with Trie Tree algorithm</a:t>
                      </a:r>
                      <a:endParaRPr i="1"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592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Faster and more intuitive career search. Improves UX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6FC"/>
                    </a:solidFill>
                  </a:tcPr>
                </a:tc>
              </a:tr>
            </a:tbl>
          </a:graphicData>
        </a:graphic>
      </p:graphicFrame>
      <p:sp>
        <p:nvSpPr>
          <p:cNvPr id="224" name="Google Shape;224;p30"/>
          <p:cNvSpPr txBox="1"/>
          <p:nvPr>
            <p:ph idx="1" type="body"/>
          </p:nvPr>
        </p:nvSpPr>
        <p:spPr>
          <a:xfrm>
            <a:off x="0" y="0"/>
            <a:ext cx="14286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592"/>
              </a:spcBef>
              <a:spcAft>
                <a:spcPts val="1200"/>
              </a:spcAft>
              <a:buSzPts val="440"/>
              <a:buNone/>
            </a:pPr>
            <a:r>
              <a:rPr i="1" lang="en" sz="1280">
                <a:solidFill>
                  <a:schemeClr val="accent6"/>
                </a:solidFill>
              </a:rPr>
              <a:t>Kassidy Flick</a:t>
            </a:r>
            <a:r>
              <a:rPr i="1" lang="en" sz="1120">
                <a:solidFill>
                  <a:schemeClr val="accent6"/>
                </a:solidFill>
              </a:rPr>
              <a:t>:</a:t>
            </a:r>
            <a:endParaRPr i="1" sz="1120"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1"/>
          <p:cNvSpPr txBox="1"/>
          <p:nvPr>
            <p:ph type="title"/>
          </p:nvPr>
        </p:nvSpPr>
        <p:spPr>
          <a:xfrm>
            <a:off x="311700" y="209975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Final Reflection</a:t>
            </a:r>
            <a:endParaRPr/>
          </a:p>
        </p:txBody>
      </p:sp>
      <p:sp>
        <p:nvSpPr>
          <p:cNvPr id="230" name="Google Shape;230;p31"/>
          <p:cNvSpPr txBox="1"/>
          <p:nvPr>
            <p:ph idx="1" type="body"/>
          </p:nvPr>
        </p:nvSpPr>
        <p:spPr>
          <a:xfrm>
            <a:off x="311700" y="1047750"/>
            <a:ext cx="8520600" cy="32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413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/>
              <a:t>We learned how to:</a:t>
            </a:r>
            <a:endParaRPr/>
          </a:p>
          <a:p>
            <a:pPr indent="-187325" lvl="1" marL="742950" rtl="0" algn="l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250"/>
              <a:buChar char="○"/>
            </a:pPr>
            <a:r>
              <a:rPr lang="en"/>
              <a:t>Plan and deliver iterative milestones, adjusting the MVP as needed</a:t>
            </a:r>
            <a:endParaRPr/>
          </a:p>
          <a:p>
            <a:pPr indent="-187325" lvl="1" marL="74295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50"/>
              <a:buChar char="○"/>
            </a:pPr>
            <a:r>
              <a:rPr lang="en"/>
              <a:t>Collaborate effectively using GitHub, including managing merge conflicts</a:t>
            </a:r>
            <a:endParaRPr/>
          </a:p>
          <a:p>
            <a:pPr indent="-187325" lvl="1" marL="74295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50"/>
              <a:buChar char="○"/>
            </a:pPr>
            <a:r>
              <a:rPr lang="en"/>
              <a:t>Handle technical challenges with large datasets and proxy environments (JupyterHub)</a:t>
            </a:r>
            <a:endParaRPr/>
          </a:p>
          <a:p>
            <a:pPr indent="-187325" lvl="1" marL="74295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50"/>
              <a:buChar char="○"/>
            </a:pPr>
            <a:r>
              <a:rPr lang="en"/>
              <a:t>Integrate multiple backend and frontend components in a full-stack project</a:t>
            </a:r>
            <a:endParaRPr/>
          </a:p>
          <a:p>
            <a:pPr indent="-187325" lvl="1" marL="74295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50"/>
              <a:buChar char="○"/>
            </a:pPr>
            <a:r>
              <a:rPr lang="en"/>
              <a:t>Generate and format professional PDF reports from dynamic data</a:t>
            </a:r>
            <a:endParaRPr/>
          </a:p>
          <a:p>
            <a:pPr indent="-187325" lvl="1" marL="74295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250"/>
              <a:buChar char="○"/>
            </a:pPr>
            <a:r>
              <a:rPr lang="en"/>
              <a:t>See a project through from idea to demo</a:t>
            </a:r>
            <a:endParaRPr/>
          </a:p>
        </p:txBody>
      </p:sp>
      <p:sp>
        <p:nvSpPr>
          <p:cNvPr id="231" name="Google Shape;231;p31"/>
          <p:cNvSpPr txBox="1"/>
          <p:nvPr>
            <p:ph idx="1" type="body"/>
          </p:nvPr>
        </p:nvSpPr>
        <p:spPr>
          <a:xfrm>
            <a:off x="0" y="0"/>
            <a:ext cx="14286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592"/>
              </a:spcBef>
              <a:spcAft>
                <a:spcPts val="1200"/>
              </a:spcAft>
              <a:buSzPts val="440"/>
              <a:buNone/>
            </a:pPr>
            <a:r>
              <a:rPr i="1" lang="en" sz="1280">
                <a:solidFill>
                  <a:schemeClr val="accent6"/>
                </a:solidFill>
              </a:rPr>
              <a:t>Sarah Suliman</a:t>
            </a:r>
            <a:r>
              <a:rPr i="1" lang="en" sz="1120">
                <a:solidFill>
                  <a:schemeClr val="accent6"/>
                </a:solidFill>
              </a:rPr>
              <a:t>:</a:t>
            </a:r>
            <a:endParaRPr i="1" sz="1120"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2"/>
          <p:cNvSpPr txBox="1"/>
          <p:nvPr>
            <p:ph type="title"/>
          </p:nvPr>
        </p:nvSpPr>
        <p:spPr>
          <a:xfrm>
            <a:off x="311700" y="217825"/>
            <a:ext cx="8520600" cy="20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9600"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sz="9600"/>
          </a:p>
        </p:txBody>
      </p:sp>
      <p:sp>
        <p:nvSpPr>
          <p:cNvPr id="237" name="Google Shape;237;p32"/>
          <p:cNvSpPr txBox="1"/>
          <p:nvPr>
            <p:ph idx="1" type="body"/>
          </p:nvPr>
        </p:nvSpPr>
        <p:spPr>
          <a:xfrm>
            <a:off x="311700" y="2150025"/>
            <a:ext cx="8520600" cy="22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en" sz="3200">
                <a:latin typeface="Calibri"/>
                <a:ea typeface="Calibri"/>
                <a:cs typeface="Calibri"/>
                <a:sym typeface="Calibri"/>
              </a:rPr>
              <a:t>Any </a:t>
            </a:r>
            <a:r>
              <a:rPr lang="en" sz="3200">
                <a:latin typeface="Calibri"/>
                <a:ea typeface="Calibri"/>
                <a:cs typeface="Calibri"/>
                <a:sym typeface="Calibri"/>
              </a:rPr>
              <a:t>Questions?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3200"/>
              <a:buChar char="●"/>
            </a:pPr>
            <a:r>
              <a:rPr lang="en" sz="3200">
                <a:latin typeface="Calibri"/>
                <a:ea typeface="Calibri"/>
                <a:cs typeface="Calibri"/>
                <a:sym typeface="Calibri"/>
              </a:rPr>
              <a:t>GitHub: 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  <a:p>
            <a:pPr indent="-431800" lvl="1" marL="914400" rtl="0" algn="l">
              <a:spcBef>
                <a:spcPts val="1200"/>
              </a:spcBef>
              <a:spcAft>
                <a:spcPts val="1200"/>
              </a:spcAft>
              <a:buSzPts val="3200"/>
              <a:buChar char="○"/>
            </a:pPr>
            <a:r>
              <a:rPr lang="en" sz="3200">
                <a:latin typeface="Calibri"/>
                <a:ea typeface="Calibri"/>
                <a:cs typeface="Calibri"/>
                <a:sym typeface="Calibri"/>
              </a:rPr>
              <a:t>https://github.com/kflick3r/Talent_Trail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